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13716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  <p:embeddedFont>
      <p:font typeface="Rubik"/>
      <p:regular r:id="rId12"/>
      <p:bold r:id="rId13"/>
      <p:italic r:id="rId14"/>
      <p:boldItalic r:id="rId15"/>
    </p:embeddedFont>
    <p:embeddedFont>
      <p:font typeface="Lexend Dec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43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3" Type="http://schemas.openxmlformats.org/officeDocument/2006/relationships/font" Target="fonts/Rubik-bold.fntdata"/><Relationship Id="rId12" Type="http://schemas.openxmlformats.org/officeDocument/2006/relationships/font" Target="fonts/Rubi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15" Type="http://schemas.openxmlformats.org/officeDocument/2006/relationships/font" Target="fonts/Rubik-boldItalic.fntdata"/><Relationship Id="rId14" Type="http://schemas.openxmlformats.org/officeDocument/2006/relationships/font" Target="fonts/Rubik-italic.fntdata"/><Relationship Id="rId17" Type="http://schemas.openxmlformats.org/officeDocument/2006/relationships/font" Target="fonts/LexendDeca-bold.fntdata"/><Relationship Id="rId16" Type="http://schemas.openxmlformats.org/officeDocument/2006/relationships/font" Target="fonts/LexendDec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1142700" y="685800"/>
            <a:ext cx="9144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b650f282a_0_0:notes"/>
          <p:cNvSpPr/>
          <p:nvPr>
            <p:ph idx="2" type="sldImg"/>
          </p:nvPr>
        </p:nvSpPr>
        <p:spPr>
          <a:xfrm>
            <a:off x="-1142700" y="685800"/>
            <a:ext cx="9144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b650f28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3cdd9c26c_1_0:notes"/>
          <p:cNvSpPr/>
          <p:nvPr>
            <p:ph idx="2" type="sldImg"/>
          </p:nvPr>
        </p:nvSpPr>
        <p:spPr>
          <a:xfrm>
            <a:off x="-1142700" y="685800"/>
            <a:ext cx="9144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3cdd9c2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67563" y="744575"/>
            <a:ext cx="12780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7550" y="2834125"/>
            <a:ext cx="1278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67550" y="2150850"/>
            <a:ext cx="1278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67550" y="445025"/>
            <a:ext cx="1278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67550" y="1152475"/>
            <a:ext cx="1278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67550" y="445025"/>
            <a:ext cx="1278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67550" y="1152475"/>
            <a:ext cx="600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248600" y="1152475"/>
            <a:ext cx="600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67550" y="445025"/>
            <a:ext cx="1278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67550" y="555600"/>
            <a:ext cx="4212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67550" y="1389600"/>
            <a:ext cx="421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35375" y="450150"/>
            <a:ext cx="9551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858000" y="-125"/>
            <a:ext cx="6858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98250" y="1233175"/>
            <a:ext cx="6067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98250" y="2803075"/>
            <a:ext cx="6067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409250" y="724075"/>
            <a:ext cx="5755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67550" y="4230575"/>
            <a:ext cx="89982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67550" y="1106125"/>
            <a:ext cx="12780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67550" y="3152225"/>
            <a:ext cx="12780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7550" y="445025"/>
            <a:ext cx="1278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7550" y="1152475"/>
            <a:ext cx="1278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708687" y="4663217"/>
            <a:ext cx="8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D2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1613" y="384338"/>
            <a:ext cx="13633200" cy="4668900"/>
          </a:xfrm>
          <a:prstGeom prst="rect">
            <a:avLst/>
          </a:prstGeom>
          <a:solidFill>
            <a:srgbClr val="10101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481" y="437263"/>
            <a:ext cx="9412541" cy="3312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175174" y="4420725"/>
            <a:ext cx="13131896" cy="436200"/>
            <a:chOff x="218850" y="1436825"/>
            <a:chExt cx="12412000" cy="436200"/>
          </a:xfrm>
        </p:grpSpPr>
        <p:cxnSp>
          <p:nvCxnSpPr>
            <p:cNvPr id="57" name="Google Shape;57;p13"/>
            <p:cNvCxnSpPr/>
            <p:nvPr/>
          </p:nvCxnSpPr>
          <p:spPr>
            <a:xfrm>
              <a:off x="230650" y="1641775"/>
              <a:ext cx="12400200" cy="438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218850" y="1436825"/>
              <a:ext cx="0" cy="43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3400707" y="1436825"/>
              <a:ext cx="0" cy="436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" name="Google Shape;60;p13"/>
          <p:cNvSpPr txBox="1"/>
          <p:nvPr/>
        </p:nvSpPr>
        <p:spPr>
          <a:xfrm>
            <a:off x="3525102" y="4343263"/>
            <a:ext cx="11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3 + 4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1497774" y="4420722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/>
          <p:nvPr/>
        </p:nvCxnSpPr>
        <p:spPr>
          <a:xfrm>
            <a:off x="5540274" y="4420722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/>
          <p:nvPr/>
        </p:nvCxnSpPr>
        <p:spPr>
          <a:xfrm>
            <a:off x="7539137" y="4420722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>
            <a:off x="9605349" y="4420722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1497761" y="4343263"/>
            <a:ext cx="125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546644" y="4343256"/>
            <a:ext cx="15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5 + 6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01994" y="4697013"/>
            <a:ext cx="12957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Solution</a:t>
            </a:r>
            <a:r>
              <a:rPr b="1" lang="en" sz="9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b="1" sz="9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840153" y="4702188"/>
            <a:ext cx="95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53BFF"/>
                </a:solidFill>
                <a:latin typeface="Rubik"/>
                <a:ea typeface="Rubik"/>
                <a:cs typeface="Rubik"/>
                <a:sym typeface="Rubik"/>
              </a:rPr>
              <a:t>Build</a:t>
            </a:r>
            <a:endParaRPr b="1" sz="1100">
              <a:solidFill>
                <a:srgbClr val="853B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872903" y="4702188"/>
            <a:ext cx="185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267FF"/>
                </a:solidFill>
                <a:latin typeface="Rubik"/>
                <a:ea typeface="Rubik"/>
                <a:cs typeface="Rubik"/>
                <a:sym typeface="Rubik"/>
              </a:rPr>
              <a:t>UAT/Training</a:t>
            </a:r>
            <a:endParaRPr b="1" sz="1100">
              <a:solidFill>
                <a:srgbClr val="0267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820925" y="4715388"/>
            <a:ext cx="1797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FFFF"/>
                </a:solidFill>
                <a:latin typeface="Rubik"/>
                <a:ea typeface="Rubik"/>
                <a:cs typeface="Rubik"/>
                <a:sym typeface="Rubik"/>
              </a:rPr>
              <a:t>Limited Launch</a:t>
            </a:r>
            <a:endParaRPr b="1" sz="1100">
              <a:solidFill>
                <a:srgbClr val="00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9800569" y="4715388"/>
            <a:ext cx="2190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BE396"/>
                </a:solidFill>
                <a:latin typeface="Rubik"/>
                <a:ea typeface="Rubik"/>
                <a:cs typeface="Rubik"/>
                <a:sym typeface="Rubik"/>
              </a:rPr>
              <a:t>Company Rollout</a:t>
            </a:r>
            <a:endParaRPr b="1" sz="1100">
              <a:solidFill>
                <a:srgbClr val="1BE39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69688" y="1280213"/>
            <a:ext cx="145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Project Kickoff</a:t>
            </a:r>
            <a:endParaRPr b="1" i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73" name="Google Shape;73;p13"/>
          <p:cNvCxnSpPr/>
          <p:nvPr/>
        </p:nvCxnSpPr>
        <p:spPr>
          <a:xfrm>
            <a:off x="7514570" y="1673870"/>
            <a:ext cx="0" cy="2982000"/>
          </a:xfrm>
          <a:prstGeom prst="straightConnector1">
            <a:avLst/>
          </a:prstGeom>
          <a:noFill/>
          <a:ln cap="flat" cmpd="sng" w="9525">
            <a:solidFill>
              <a:srgbClr val="FFBC4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/>
          <p:nvPr/>
        </p:nvCxnSpPr>
        <p:spPr>
          <a:xfrm>
            <a:off x="9800570" y="1673870"/>
            <a:ext cx="0" cy="29850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3"/>
          <p:cNvSpPr/>
          <p:nvPr/>
        </p:nvSpPr>
        <p:spPr>
          <a:xfrm>
            <a:off x="7341319" y="1485200"/>
            <a:ext cx="346500" cy="2427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BC4B"/>
          </a:solidFill>
          <a:ln cap="flat" cmpd="sng" w="9525">
            <a:solidFill>
              <a:srgbClr val="213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11543175" y="3217363"/>
            <a:ext cx="3075300" cy="242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NEXT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8454150" y="2882900"/>
            <a:ext cx="2190600" cy="242700"/>
          </a:xfrm>
          <a:prstGeom prst="roundRect">
            <a:avLst>
              <a:gd fmla="val 16667" name="adj"/>
            </a:avLst>
          </a:prstGeom>
          <a:solidFill>
            <a:srgbClr val="0267FF"/>
          </a:solidFill>
          <a:ln cap="flat" cmpd="sng" w="9525">
            <a:solidFill>
              <a:srgbClr val="026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Testing/ 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8929350" y="2533425"/>
            <a:ext cx="1715400" cy="242700"/>
          </a:xfrm>
          <a:prstGeom prst="roundRect">
            <a:avLst>
              <a:gd fmla="val 16667" name="adj"/>
            </a:avLst>
          </a:prstGeom>
          <a:solidFill>
            <a:srgbClr val="853BFF"/>
          </a:solidFill>
          <a:ln cap="flat" cmpd="sng" w="9525">
            <a:solidFill>
              <a:srgbClr val="853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Reporting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0772063" y="2882900"/>
            <a:ext cx="3075300" cy="242700"/>
          </a:xfrm>
          <a:prstGeom prst="roundRect">
            <a:avLst>
              <a:gd fmla="val 16667" name="adj"/>
            </a:avLst>
          </a:prstGeom>
          <a:solidFill>
            <a:srgbClr val="18E396"/>
          </a:solidFill>
          <a:ln cap="flat" cmpd="sng" w="9525">
            <a:solidFill>
              <a:srgbClr val="1BE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Adoption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0743863" y="2523950"/>
            <a:ext cx="3075300" cy="242700"/>
          </a:xfrm>
          <a:prstGeom prst="roundRect">
            <a:avLst>
              <a:gd fmla="val 16667" name="adj"/>
            </a:avLst>
          </a:prstGeom>
          <a:solidFill>
            <a:srgbClr val="1BE396"/>
          </a:solidFill>
          <a:ln cap="flat" cmpd="sng" w="9525">
            <a:solidFill>
              <a:srgbClr val="1BE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Optimization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2578224" y="2867900"/>
            <a:ext cx="3381900" cy="242700"/>
          </a:xfrm>
          <a:prstGeom prst="roundRect">
            <a:avLst>
              <a:gd fmla="val 16667" name="adj"/>
            </a:avLst>
          </a:prstGeom>
          <a:solidFill>
            <a:srgbClr val="853BFF"/>
          </a:solidFill>
          <a:ln cap="flat" cmpd="sng" w="9525">
            <a:solidFill>
              <a:srgbClr val="853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HubSpot Quote Customization 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7101884" y="1213550"/>
            <a:ext cx="87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MVP Launch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2434688" y="384338"/>
            <a:ext cx="8887200" cy="7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Estimated </a:t>
            </a:r>
            <a:r>
              <a:rPr b="1" lang="en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Implementation Timeline</a:t>
            </a:r>
            <a:endParaRPr b="1" sz="1500">
              <a:solidFill>
                <a:schemeClr val="lt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78950">
            <a:off x="9693157" y="1462963"/>
            <a:ext cx="242700" cy="2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29279" y="4715388"/>
            <a:ext cx="1378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D131"/>
                </a:solidFill>
                <a:latin typeface="Rubik"/>
                <a:ea typeface="Rubik"/>
                <a:cs typeface="Rubik"/>
                <a:sym typeface="Rubik"/>
              </a:rPr>
              <a:t>Testing/QA</a:t>
            </a:r>
            <a:endParaRPr b="1" sz="1100">
              <a:solidFill>
                <a:srgbClr val="FFD13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575994" y="4350925"/>
            <a:ext cx="15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7 + 8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667023" y="4343256"/>
            <a:ext cx="15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9 + 10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88" name="Google Shape;88;p13"/>
          <p:cNvCxnSpPr/>
          <p:nvPr/>
        </p:nvCxnSpPr>
        <p:spPr>
          <a:xfrm>
            <a:off x="11651049" y="4420722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3"/>
          <p:cNvSpPr txBox="1"/>
          <p:nvPr/>
        </p:nvSpPr>
        <p:spPr>
          <a:xfrm>
            <a:off x="11651035" y="4343263"/>
            <a:ext cx="15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11+ 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0" name="Google Shape;90;p13"/>
          <p:cNvSpPr/>
          <p:nvPr/>
        </p:nvSpPr>
        <p:spPr>
          <a:xfrm rot="5400000">
            <a:off x="-328162" y="1198388"/>
            <a:ext cx="1231800" cy="363900"/>
          </a:xfrm>
          <a:prstGeom prst="roundRect">
            <a:avLst>
              <a:gd fmla="val 16667" name="adj"/>
            </a:avLst>
          </a:prstGeom>
          <a:solidFill>
            <a:srgbClr val="131317">
              <a:alpha val="82750"/>
            </a:srgbClr>
          </a:solidFill>
          <a:ln cap="flat" cmpd="sng" w="9525">
            <a:solidFill>
              <a:srgbClr val="FF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Contract </a:t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 Signature</a:t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91" name="Google Shape;91;p13"/>
          <p:cNvGrpSpPr/>
          <p:nvPr/>
        </p:nvGrpSpPr>
        <p:grpSpPr>
          <a:xfrm>
            <a:off x="763385" y="1541376"/>
            <a:ext cx="183150" cy="3104569"/>
            <a:chOff x="766596" y="3061027"/>
            <a:chExt cx="244200" cy="6209138"/>
          </a:xfrm>
        </p:grpSpPr>
        <p:sp>
          <p:nvSpPr>
            <p:cNvPr id="92" name="Google Shape;92;p13"/>
            <p:cNvSpPr/>
            <p:nvPr/>
          </p:nvSpPr>
          <p:spPr>
            <a:xfrm>
              <a:off x="766596" y="3061027"/>
              <a:ext cx="244200" cy="362400"/>
            </a:xfrm>
            <a:prstGeom prst="ellipse">
              <a:avLst/>
            </a:prstGeom>
            <a:solidFill>
              <a:srgbClr val="1BE3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93" name="Google Shape;93;p13"/>
            <p:cNvCxnSpPr/>
            <p:nvPr/>
          </p:nvCxnSpPr>
          <p:spPr>
            <a:xfrm>
              <a:off x="896387" y="3413264"/>
              <a:ext cx="0" cy="5856900"/>
            </a:xfrm>
            <a:prstGeom prst="straightConnector1">
              <a:avLst/>
            </a:prstGeom>
            <a:noFill/>
            <a:ln cap="flat" cmpd="sng" w="9525">
              <a:solidFill>
                <a:srgbClr val="18E39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/>
        </p:nvSpPr>
        <p:spPr>
          <a:xfrm>
            <a:off x="9025291" y="1498913"/>
            <a:ext cx="87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Go-Live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320227" y="2534825"/>
            <a:ext cx="3510300" cy="242700"/>
          </a:xfrm>
          <a:prstGeom prst="roundRect">
            <a:avLst>
              <a:gd fmla="val 16667" name="adj"/>
            </a:avLst>
          </a:prstGeom>
          <a:solidFill>
            <a:srgbClr val="853BFF"/>
          </a:solidFill>
          <a:ln cap="flat" cmpd="sng" w="9525">
            <a:solidFill>
              <a:srgbClr val="853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Quickbooks Integration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497769" y="2533425"/>
            <a:ext cx="3271200" cy="242700"/>
          </a:xfrm>
          <a:prstGeom prst="roundRect">
            <a:avLst>
              <a:gd fmla="val 16667" name="adj"/>
            </a:avLst>
          </a:prstGeom>
          <a:solidFill>
            <a:srgbClr val="853BFF"/>
          </a:solidFill>
          <a:ln cap="flat" cmpd="sng" w="9525">
            <a:solidFill>
              <a:srgbClr val="853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Hubspot System Architecture 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753995" y="4343263"/>
            <a:ext cx="11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2 + 3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-209156" y="2165000"/>
            <a:ext cx="3166500" cy="242700"/>
          </a:xfrm>
          <a:prstGeom prst="roundRect">
            <a:avLst>
              <a:gd fmla="val 16667" name="adj"/>
            </a:avLst>
          </a:prstGeom>
          <a:solidFill>
            <a:srgbClr val="FF3B6A"/>
          </a:solidFill>
          <a:ln cap="flat" cmpd="sng" w="9525">
            <a:solidFill>
              <a:srgbClr val="FF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Requirements Confirmation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26511" y="1523059"/>
            <a:ext cx="34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Rubik"/>
                <a:ea typeface="Rubik"/>
                <a:cs typeface="Rubik"/>
                <a:sym typeface="Rubik"/>
              </a:rPr>
              <a:t>GO</a:t>
            </a:r>
            <a:endParaRPr b="1" sz="7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D2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-296475" y="-104075"/>
            <a:ext cx="14182200" cy="5435400"/>
          </a:xfrm>
          <a:prstGeom prst="rect">
            <a:avLst/>
          </a:prstGeom>
          <a:solidFill>
            <a:srgbClr val="10101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181" y="437263"/>
            <a:ext cx="9412541" cy="3312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4"/>
          <p:cNvCxnSpPr/>
          <p:nvPr/>
        </p:nvCxnSpPr>
        <p:spPr>
          <a:xfrm>
            <a:off x="1046701" y="4625675"/>
            <a:ext cx="12429900" cy="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4"/>
          <p:cNvCxnSpPr/>
          <p:nvPr/>
        </p:nvCxnSpPr>
        <p:spPr>
          <a:xfrm>
            <a:off x="1034873" y="4420725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4"/>
          <p:cNvCxnSpPr/>
          <p:nvPr/>
        </p:nvCxnSpPr>
        <p:spPr>
          <a:xfrm>
            <a:off x="3012854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4"/>
          <p:cNvCxnSpPr/>
          <p:nvPr/>
        </p:nvCxnSpPr>
        <p:spPr>
          <a:xfrm>
            <a:off x="6968817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778674" y="4343263"/>
            <a:ext cx="125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39388" y="1280213"/>
            <a:ext cx="145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Project Kickoff</a:t>
            </a:r>
            <a:endParaRPr b="1" i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12" name="Google Shape;112;p14"/>
          <p:cNvCxnSpPr/>
          <p:nvPr/>
        </p:nvCxnSpPr>
        <p:spPr>
          <a:xfrm>
            <a:off x="12902745" y="1671270"/>
            <a:ext cx="0" cy="29850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4"/>
          <p:cNvSpPr/>
          <p:nvPr/>
        </p:nvSpPr>
        <p:spPr>
          <a:xfrm>
            <a:off x="7927225" y="2938108"/>
            <a:ext cx="2967900" cy="242700"/>
          </a:xfrm>
          <a:prstGeom prst="roundRect">
            <a:avLst>
              <a:gd fmla="val 16667" name="adj"/>
            </a:avLst>
          </a:prstGeom>
          <a:solidFill>
            <a:srgbClr val="0267FF"/>
          </a:solidFill>
          <a:ln cap="flat" cmpd="sng" w="9525">
            <a:solidFill>
              <a:srgbClr val="026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Future State Mapping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11864875" y="3324800"/>
            <a:ext cx="1037700" cy="242700"/>
          </a:xfrm>
          <a:prstGeom prst="roundRect">
            <a:avLst>
              <a:gd fmla="val 16667" name="adj"/>
            </a:avLst>
          </a:prstGeom>
          <a:solidFill>
            <a:srgbClr val="18E396"/>
          </a:solidFill>
          <a:ln cap="flat" cmpd="sng" w="9525">
            <a:solidFill>
              <a:srgbClr val="1BE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Deliver Proposal</a:t>
            </a:r>
            <a:endParaRPr b="1" sz="9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15" name="Google Shape;11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378950">
            <a:off x="12827307" y="1410075"/>
            <a:ext cx="242700" cy="2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/>
        </p:nvSpPr>
        <p:spPr>
          <a:xfrm rot="5400000">
            <a:off x="-217087" y="1229063"/>
            <a:ext cx="1231800" cy="363900"/>
          </a:xfrm>
          <a:prstGeom prst="roundRect">
            <a:avLst>
              <a:gd fmla="val 16667" name="adj"/>
            </a:avLst>
          </a:prstGeom>
          <a:solidFill>
            <a:srgbClr val="131317">
              <a:alpha val="82750"/>
            </a:srgbClr>
          </a:solidFill>
          <a:ln cap="flat" cmpd="sng" w="9525">
            <a:solidFill>
              <a:srgbClr val="FF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Contract </a:t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3B6A"/>
                </a:solidFill>
                <a:latin typeface="Rubik"/>
                <a:ea typeface="Rubik"/>
                <a:cs typeface="Rubik"/>
                <a:sym typeface="Rubik"/>
              </a:rPr>
              <a:t> Signature</a:t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FF3B6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117" name="Google Shape;117;p14"/>
          <p:cNvGrpSpPr/>
          <p:nvPr/>
        </p:nvGrpSpPr>
        <p:grpSpPr>
          <a:xfrm>
            <a:off x="933085" y="1541376"/>
            <a:ext cx="183150" cy="3104569"/>
            <a:chOff x="766596" y="3061027"/>
            <a:chExt cx="244200" cy="6209138"/>
          </a:xfrm>
        </p:grpSpPr>
        <p:sp>
          <p:nvSpPr>
            <p:cNvPr id="118" name="Google Shape;118;p14"/>
            <p:cNvSpPr/>
            <p:nvPr/>
          </p:nvSpPr>
          <p:spPr>
            <a:xfrm>
              <a:off x="766596" y="3061027"/>
              <a:ext cx="244200" cy="362400"/>
            </a:xfrm>
            <a:prstGeom prst="ellipse">
              <a:avLst/>
            </a:prstGeom>
            <a:solidFill>
              <a:srgbClr val="1BE3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119" name="Google Shape;119;p14"/>
            <p:cNvCxnSpPr/>
            <p:nvPr/>
          </p:nvCxnSpPr>
          <p:spPr>
            <a:xfrm>
              <a:off x="896387" y="3413264"/>
              <a:ext cx="0" cy="5856900"/>
            </a:xfrm>
            <a:prstGeom prst="straightConnector1">
              <a:avLst/>
            </a:prstGeom>
            <a:noFill/>
            <a:ln cap="flat" cmpd="sng" w="9525">
              <a:solidFill>
                <a:srgbClr val="18E39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0" name="Google Shape;120;p14"/>
          <p:cNvSpPr txBox="1"/>
          <p:nvPr/>
        </p:nvSpPr>
        <p:spPr>
          <a:xfrm>
            <a:off x="12511391" y="1094450"/>
            <a:ext cx="87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Next Steps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034875" y="2164725"/>
            <a:ext cx="1997400" cy="242700"/>
          </a:xfrm>
          <a:prstGeom prst="roundRect">
            <a:avLst>
              <a:gd fmla="val 16667" name="adj"/>
            </a:avLst>
          </a:prstGeom>
          <a:solidFill>
            <a:srgbClr val="FF3B6A"/>
          </a:solidFill>
          <a:ln cap="flat" cmpd="sng" w="9525">
            <a:solidFill>
              <a:srgbClr val="FF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Interviews &amp; Reverse Demos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896211" y="1523059"/>
            <a:ext cx="34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Rubik"/>
                <a:ea typeface="Rubik"/>
                <a:cs typeface="Rubik"/>
                <a:sym typeface="Rubik"/>
              </a:rPr>
              <a:t>GO</a:t>
            </a:r>
            <a:endParaRPr b="1" sz="7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2023875" y="46256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2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3032375" y="2551417"/>
            <a:ext cx="3936300" cy="242700"/>
          </a:xfrm>
          <a:prstGeom prst="roundRect">
            <a:avLst>
              <a:gd fmla="val 16667" name="adj"/>
            </a:avLst>
          </a:prstGeom>
          <a:solidFill>
            <a:srgbClr val="853BFF"/>
          </a:solidFill>
          <a:ln cap="flat" cmpd="sng" w="9525">
            <a:solidFill>
              <a:srgbClr val="853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Current State Mapping</a:t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25" name="Google Shape;125;p14"/>
          <p:cNvCxnSpPr/>
          <p:nvPr/>
        </p:nvCxnSpPr>
        <p:spPr>
          <a:xfrm>
            <a:off x="10924781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11913771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7421425" y="1671283"/>
            <a:ext cx="0" cy="2985000"/>
          </a:xfrm>
          <a:prstGeom prst="straightConnector1">
            <a:avLst/>
          </a:prstGeom>
          <a:noFill/>
          <a:ln cap="flat" cmpd="sng" w="9525">
            <a:solidFill>
              <a:srgbClr val="FFD13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2023864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4990836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4"/>
          <p:cNvCxnSpPr/>
          <p:nvPr/>
        </p:nvCxnSpPr>
        <p:spPr>
          <a:xfrm>
            <a:off x="4001845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5979827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7957808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8946799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9935790" y="4412450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/>
        </p:nvSpPr>
        <p:spPr>
          <a:xfrm>
            <a:off x="4001850" y="46480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4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965775" y="46480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6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7967375" y="46480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8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9935800" y="46480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10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922800" y="4648075"/>
            <a:ext cx="9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Week 12</a:t>
            </a:r>
            <a:endParaRPr b="1" sz="11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>
            <a:off x="11403988" y="1671270"/>
            <a:ext cx="0" cy="2985000"/>
          </a:xfrm>
          <a:prstGeom prst="straightConnector1">
            <a:avLst/>
          </a:prstGeom>
          <a:noFill/>
          <a:ln cap="flat" cmpd="sng" w="9525">
            <a:solidFill>
              <a:srgbClr val="FFD13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/>
          <p:nvPr/>
        </p:nvSpPr>
        <p:spPr>
          <a:xfrm>
            <a:off x="6746975" y="1454550"/>
            <a:ext cx="1350900" cy="492600"/>
          </a:xfrm>
          <a:prstGeom prst="roundRect">
            <a:avLst>
              <a:gd fmla="val 16667" name="adj"/>
            </a:avLst>
          </a:prstGeom>
          <a:solidFill>
            <a:srgbClr val="FFD13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781000" y="1454550"/>
            <a:ext cx="131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Current State Presentation</a:t>
            </a:r>
            <a:endParaRPr b="1"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10728538" y="1413525"/>
            <a:ext cx="1350900" cy="492600"/>
          </a:xfrm>
          <a:prstGeom prst="roundRect">
            <a:avLst>
              <a:gd fmla="val 16667" name="adj"/>
            </a:avLst>
          </a:prstGeom>
          <a:solidFill>
            <a:srgbClr val="FFD13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10728538" y="1413513"/>
            <a:ext cx="135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75" lIns="60975" spcFirstLastPara="1" rIns="60975" wrap="square" tIns="60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Future State Presentation</a:t>
            </a:r>
            <a:endParaRPr b="1"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45" name="Google Shape;145;p14"/>
          <p:cNvCxnSpPr/>
          <p:nvPr/>
        </p:nvCxnSpPr>
        <p:spPr>
          <a:xfrm>
            <a:off x="12902762" y="4420725"/>
            <a:ext cx="0" cy="43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